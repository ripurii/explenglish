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69" r:id="rId4"/>
    <p:sldId id="260" r:id="rId5"/>
    <p:sldId id="257" r:id="rId6"/>
    <p:sldId id="271" r:id="rId7"/>
    <p:sldId id="272" r:id="rId8"/>
    <p:sldId id="273" r:id="rId9"/>
    <p:sldId id="263" r:id="rId10"/>
    <p:sldId id="274" r:id="rId11"/>
    <p:sldId id="275" r:id="rId12"/>
    <p:sldId id="278" r:id="rId13"/>
    <p:sldId id="279" r:id="rId14"/>
    <p:sldId id="277" r:id="rId15"/>
    <p:sldId id="276" r:id="rId16"/>
    <p:sldId id="270" r:id="rId17"/>
    <p:sldId id="258" r:id="rId18"/>
    <p:sldId id="267" r:id="rId19"/>
    <p:sldId id="261" r:id="rId20"/>
    <p:sldId id="280" r:id="rId21"/>
    <p:sldId id="26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C173"/>
    <a:srgbClr val="BB9BCB"/>
    <a:srgbClr val="8FC0CB"/>
    <a:srgbClr val="E08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82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9AB3-F7E6-FB7A-3548-175A18DB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10B19-E853-D7A2-BA7F-534E18B03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F66CD-0EFA-267A-6385-12E22E981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43077-86B9-3E6A-69D9-9A70B05DE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75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typically British items and ideas do you see represented in the painting?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74548-4CA9-05C1-1BA1-2A474B4E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7880D-766C-52C1-54B3-9FB7543F0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C15F7-CBF6-A470-66EB-458A00A29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Reading for gist : </a:t>
            </a:r>
            <a:br>
              <a:rPr lang="en-GB" dirty="0"/>
            </a:br>
            <a:r>
              <a:rPr lang="en-GB" dirty="0"/>
              <a:t>B — The tapestry celebrates modern Britain as a diverse country where everyone belongs.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74741-B63E-0DDF-92C8-941B8D680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91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9E81-3B73-F22D-CA2D-7F6F3FBD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CE9AE-7A68-D73B-DA3B-8032B81CE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626C6-F3D1-46F0-0FCC-9385A8B11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colourful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thought-provoking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art.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of a British £10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Traditional: e.g. cricket,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countryside.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Modern: e.g. Britain’s many cultures, languages, and traditions. (Any one valid example each.)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e.g.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Eton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“green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wellies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(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Working-class: e.g. “boozer”, “Blackpool”, “allotments” (any two).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“Don’t be silly!” / “I don’t believe you.” Perry includes it to remind people to question ideas rather than accept them without thinking — and because laughing at ourselves is an important British quality.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Hungary as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refugees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1956; his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friend’s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mother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her “security blanket”.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British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passing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— as a reminder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protective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B297B-7CA9-3E9E-6789-0E149AE1A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54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3043F-BE6A-B055-A021-CFA7413D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1B0B7-8129-CEFB-7BE3-8E3FC038D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EBC7C-E301-5C04-5EBB-43C977609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48321-600A-E3B9-19F5-4634F573E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54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A5556-7EF6-7587-0340-C8D2A8CF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217E1-8625-EDAB-40E0-CAFCB3B9C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921F5-B57C-DBA6-6BD1-928411859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colourful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thought-provoking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art.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of a British £10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Traditional: e.g. cricket,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countryside.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Modern: e.g. Britain’s many cultures, languages, and traditions. (Any one valid example each.)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e.g.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Eton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“green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wellies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(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Working-class: e.g. “boozer”, “Blackpool”, “allotments” (any two).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“Don’t be silly!” / “I don’t believe you.” Perry includes it to remind people to question ideas rather than accept them without thinking — and because laughing at ourselves is an important British quality.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Hungary as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refugees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1956; his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friend’s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mother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her “security blanket”.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British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passing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— as a reminder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protective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B7288-B533-06B4-6455-85F948687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65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3B2FA-AF08-C2FF-6B66-8E5FE481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D19CE-E000-9534-E69F-C3A21CC76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C88CF-5C93-7BED-1839-1F782C23F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colourful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thought-provoking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art.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of a British £10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Traditional: e.g. cricket,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countryside.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Modern: e.g. Britain’s many cultures, languages, and traditions. (Any one valid example each.)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e.g.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Eton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“green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wellies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(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Working-class: e.g. “boozer”, “Blackpool”, “allotments” (any two).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“Don’t be silly!” / “I don’t believe you.” Perry includes it to remind people to question ideas rather than accept them without thinking — and because laughing at ourselves is an important British quality.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Hungary as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refugees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1956; his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friend’s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mother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her “security blanket”.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British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passing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— as a reminder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protective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F7128-7F9C-CF55-2F47-D3B553A8E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76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4A76-70AD-17F8-2C16-12C97776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BE72F-6B69-6A36-72A8-4B5CBBBC5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CA44A-B99A-CE99-64DD-3E7C436B8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colourful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thought-provoking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art.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of a British £10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Traditional: e.g. cricket,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countryside.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Modern: e.g. Britain’s many cultures, languages, and traditions. (Any one valid example each.)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e.g.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Eton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“green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wellies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(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Working-class: e.g. “boozer”, “Blackpool”, “allotments” (any two).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“Don’t be silly!” / “I don’t believe you.” Perry includes it to remind people to question ideas rather than accept them without thinking — and because laughing at ourselves is an important British quality.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Hungary as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refugees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1956; his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friend’s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mother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her “security blanket”.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British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passing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— as a reminder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protective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5B25E-A34F-EB94-669B-6EF66B3A5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69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A348-EBB9-BCF3-F983-5EA1B88CF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C8B77-C9D1-C3FB-1984-8B191A94E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94F66-4581-8FB4-788B-AD2887537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colourful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thought-provoking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art.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of a British £10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Traditional: e.g. cricket,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countryside.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Modern: e.g. Britain’s many cultures, languages, and traditions. (Any one valid example each.)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e.g.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Eton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“green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wellies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(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Working-class: e.g. “boozer”, “Blackpool”, “allotments” (any two).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“Don’t be silly!” / “I don’t believe you.” Perry includes it to remind people to question ideas rather than accept them without thinking — and because laughing at ourselves is an important British quality.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Hungary as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refugees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1956; his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friend’s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mother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her “security blanket”.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British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passing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— as a reminder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protective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ED46C-C626-481B-B1C8-5CC0D0FA2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01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03B3-8547-4B2A-6D00-813DF6A1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6D119-BBB6-D7A7-79B4-1733774D8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EC498-4603-D777-974C-A69258075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famous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colourful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thought-provoking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art.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of a British £10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Traditional: e.g. cricket,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village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greens,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gardens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pubs,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countryside.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Modern: e.g. Britain’s many cultures, languages, and traditions. (Any one valid example each.)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e.g.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Eton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“green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wellies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(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Working-class: e.g. “boozer”, “Blackpool”, “allotments” (any two).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“Don’t be silly!” / “I don’t believe you.” Perry includes it to remind people to question ideas rather than accept them without thinking — and because laughing at ourselves is an important British quality.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family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Hungary as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refugees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1956; his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friend’s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mother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her “security blanket”.</a:t>
            </a: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 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British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passing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citizenship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— as a reminder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Britain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welcoming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protective</a:t>
            </a:r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167C-F590-D61B-0615-C0F0D53A1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528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B3DE-8FB3-E39F-50C2-A3B7F2AD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1EB85-C7A6-2100-872F-E58520733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730BD-DA2C-9B28-F116-8F9C1F0C2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AFCB6-B910-7E03-D1E2-D0F37EC12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00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6683D-0CEF-C4F9-57E0-72D20992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E7BC8-D83B-D777-D6B4-1C855875C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3962B-BD83-48A9-37AC-AE625B4BD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1004E-C91B-2422-C7E2-82FB8C1D4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6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2459-D514-7256-B15F-7C96B967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EA049-4675-BCD7-E54C-F8A200EF2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1906D-56DA-747B-0F33-CBE6CD7A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BF1C8-8D38-F88B-E2AB-E3F0565D3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101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switch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FF45A-9995-5BA9-8BB6-ABEF3927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C1233-47FB-DBFA-CBB5-5826C14DE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1010C-CA49-B21A-8ABD-5942DA7BA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Reading for gist : </a:t>
            </a:r>
            <a:br>
              <a:rPr lang="en-GB" dirty="0"/>
            </a:br>
            <a:r>
              <a:rPr lang="en-GB" dirty="0"/>
              <a:t>B — The tapestry celebrates modern Britain as a diverse country where everyone belongs.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8502E-B629-CDCF-63A5-3B0D48C34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145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4xG2aJa6UyY?feature=oembed" TargetMode="Externa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PVl4WRAThc8?feature=oembed" TargetMode="Externa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0" y="0"/>
            <a:ext cx="3291840" cy="1554480"/>
          </a:xfrm>
          <a:prstGeom prst="rect">
            <a:avLst/>
          </a:prstGeom>
          <a:solidFill>
            <a:srgbClr val="A3BC85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 rot="90000">
            <a:off x="3017520" y="0"/>
            <a:ext cx="2286000" cy="123444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 rot="-60000">
            <a:off x="5120640" y="0"/>
            <a:ext cx="3291840" cy="960120"/>
          </a:xfrm>
          <a:prstGeom prst="rect">
            <a:avLst/>
          </a:prstGeom>
          <a:solidFill>
            <a:srgbClr val="8FC0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 rot="60000">
            <a:off x="8229600" y="0"/>
            <a:ext cx="3959352" cy="1371600"/>
          </a:xfrm>
          <a:prstGeom prst="rect">
            <a:avLst/>
          </a:prstGeom>
          <a:solidFill>
            <a:srgbClr val="BB9B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 rot="-90000">
            <a:off x="0" y="1417320"/>
            <a:ext cx="2011680" cy="1828800"/>
          </a:xfrm>
          <a:prstGeom prst="rect">
            <a:avLst/>
          </a:prstGeom>
          <a:solidFill>
            <a:srgbClr val="E08F98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 rot="120000">
            <a:off x="0" y="3108960"/>
            <a:ext cx="2286000" cy="192024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 rot="-60000">
            <a:off x="0" y="4892040"/>
            <a:ext cx="2651760" cy="1965960"/>
          </a:xfrm>
          <a:prstGeom prst="rect">
            <a:avLst/>
          </a:prstGeom>
          <a:solidFill>
            <a:srgbClr val="8FC0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 rot="90000">
            <a:off x="9784080" y="1234440"/>
            <a:ext cx="2404872" cy="2286000"/>
          </a:xfrm>
          <a:prstGeom prst="rect">
            <a:avLst/>
          </a:prstGeom>
          <a:solidFill>
            <a:srgbClr val="A3BC85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 rot="-120000">
            <a:off x="9601200" y="3429000"/>
            <a:ext cx="2587752" cy="1737360"/>
          </a:xfrm>
          <a:prstGeom prst="rect">
            <a:avLst/>
          </a:prstGeom>
          <a:solidFill>
            <a:srgbClr val="E08F98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 rot="60000">
            <a:off x="9921240" y="5074920"/>
            <a:ext cx="2267712" cy="178308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 rot="-60000">
            <a:off x="274320" y="5989320"/>
            <a:ext cx="4572000" cy="1188720"/>
          </a:xfrm>
          <a:prstGeom prst="rect">
            <a:avLst/>
          </a:prstGeom>
          <a:solidFill>
            <a:srgbClr val="BB9B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 rot="90000">
            <a:off x="7223760" y="5852160"/>
            <a:ext cx="4846320" cy="1280160"/>
          </a:xfrm>
          <a:prstGeom prst="rect">
            <a:avLst/>
          </a:prstGeom>
          <a:solidFill>
            <a:srgbClr val="A3BC85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Shape 13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 rot="-90000">
            <a:off x="2011680" y="2331720"/>
            <a:ext cx="8165592" cy="2286000"/>
          </a:xfrm>
          <a:prstGeom prst="ellipse">
            <a:avLst/>
          </a:prstGeom>
          <a:solidFill>
            <a:srgbClr val="FDF8F2"/>
          </a:solidFill>
          <a:ln w="44450">
            <a:solidFill>
              <a:srgbClr val="4A3B52"/>
            </a:solidFill>
            <a:prstDash val="solid"/>
          </a:ln>
          <a:effectLst>
            <a:outerShdw blurRad="76200" dist="508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 rot="-90000">
            <a:off x="2286000" y="2606040"/>
            <a:ext cx="7616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British tapestry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 rot="-90000">
            <a:off x="3657600" y="3657600"/>
            <a:ext cx="4846320" cy="658368"/>
          </a:xfrm>
          <a:prstGeom prst="roundRect">
            <a:avLst>
              <a:gd name="adj" fmla="val 25000"/>
            </a:avLst>
          </a:prstGeom>
          <a:solidFill>
            <a:srgbClr val="E08F98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 rot="-90000">
            <a:off x="3657600" y="3757495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English  ·  B1  ·  Lesson 1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0BB07FCB-8237-FF4E-0937-A895B60EBF6B}"/>
              </a:ext>
            </a:extLst>
          </p:cNvPr>
          <p:cNvSpPr/>
          <p:nvPr/>
        </p:nvSpPr>
        <p:spPr>
          <a:xfrm rot="60000">
            <a:off x="4605283" y="6178028"/>
            <a:ext cx="3090421" cy="178308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 rot="78000">
            <a:off x="4572000" y="45720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 rot="78000">
            <a:off x="4526280" y="457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Goals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" y="1661405"/>
            <a:ext cx="502920" cy="502920"/>
          </a:xfrm>
          <a:prstGeom prst="ellipse">
            <a:avLst/>
          </a:prstGeom>
          <a:solidFill>
            <a:srgbClr val="E08F98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822960" y="166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08760" y="1615685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1783080" y="1615685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identify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idea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details in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informational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Comfort Blanket.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2394914"/>
            <a:ext cx="502920" cy="502920"/>
          </a:xfrm>
          <a:prstGeom prst="ellipse">
            <a:avLst/>
          </a:prstGeom>
          <a:solidFill>
            <a:srgbClr val="A3BC85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822960" y="23949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8760" y="2349194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A3BC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1783080" y="2349194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identify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explain</a:t>
            </a:r>
            <a:r>
              <a:rPr lang="nl-NL" dirty="0"/>
              <a:t> at </a:t>
            </a:r>
            <a:r>
              <a:rPr lang="nl-NL" dirty="0" err="1"/>
              <a:t>least</a:t>
            </a:r>
            <a:r>
              <a:rPr lang="nl-NL" dirty="0"/>
              <a:t> five British </a:t>
            </a:r>
            <a:r>
              <a:rPr lang="nl-NL" dirty="0" err="1"/>
              <a:t>cultural</a:t>
            </a:r>
            <a:r>
              <a:rPr lang="nl-NL" dirty="0"/>
              <a:t> </a:t>
            </a:r>
            <a:r>
              <a:rPr lang="nl-NL" dirty="0" err="1"/>
              <a:t>symbols</a:t>
            </a:r>
            <a:r>
              <a:rPr lang="nl-NL" dirty="0"/>
              <a:t> </a:t>
            </a:r>
            <a:r>
              <a:rPr lang="nl-NL" dirty="0" err="1"/>
              <a:t>represented</a:t>
            </a:r>
            <a:r>
              <a:rPr lang="nl-NL" dirty="0"/>
              <a:t> in Comfort Blanket.</a:t>
            </a:r>
          </a:p>
        </p:txBody>
      </p:sp>
      <p:sp>
        <p:nvSpPr>
          <p:cNvPr id="18" name="Shape 16"/>
          <p:cNvSpPr/>
          <p:nvPr/>
        </p:nvSpPr>
        <p:spPr>
          <a:xfrm>
            <a:off x="822960" y="3138967"/>
            <a:ext cx="502920" cy="502920"/>
          </a:xfrm>
          <a:prstGeom prst="ellipse">
            <a:avLst/>
          </a:prstGeom>
          <a:solidFill>
            <a:srgbClr val="E8C173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 dirty="0"/>
          </a:p>
        </p:txBody>
      </p:sp>
      <p:sp>
        <p:nvSpPr>
          <p:cNvPr id="19" name="Text 17"/>
          <p:cNvSpPr/>
          <p:nvPr/>
        </p:nvSpPr>
        <p:spPr>
          <a:xfrm>
            <a:off x="822960" y="31389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08760" y="3093247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E8C17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1783080" y="3093247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recognise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pronouns</a:t>
            </a:r>
            <a:r>
              <a:rPr lang="nl-NL" dirty="0"/>
              <a:t> </a:t>
            </a:r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.</a:t>
            </a:r>
          </a:p>
        </p:txBody>
      </p:sp>
      <p:sp>
        <p:nvSpPr>
          <p:cNvPr id="22" name="Shape 20"/>
          <p:cNvSpPr/>
          <p:nvPr/>
        </p:nvSpPr>
        <p:spPr>
          <a:xfrm>
            <a:off x="822960" y="3874999"/>
            <a:ext cx="502920" cy="502920"/>
          </a:xfrm>
          <a:prstGeom prst="ellipse">
            <a:avLst/>
          </a:prstGeom>
          <a:solidFill>
            <a:srgbClr val="8FC0CB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822960" y="387499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08760" y="3829279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1783080" y="3829279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write</a:t>
            </a:r>
            <a:r>
              <a:rPr lang="nl-NL" dirty="0"/>
              <a:t> a museum label </a:t>
            </a:r>
            <a:r>
              <a:rPr lang="nl-NL" dirty="0" err="1"/>
              <a:t>explaining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a collage </a:t>
            </a:r>
            <a:r>
              <a:rPr lang="nl-NL" dirty="0" err="1"/>
              <a:t>represents</a:t>
            </a:r>
            <a:r>
              <a:rPr lang="nl-NL" dirty="0"/>
              <a:t> a </a:t>
            </a:r>
            <a:r>
              <a:rPr lang="nl-NL" dirty="0" err="1"/>
              <a:t>country's</a:t>
            </a:r>
            <a:r>
              <a:rPr lang="nl-NL" dirty="0"/>
              <a:t> </a:t>
            </a:r>
            <a:r>
              <a:rPr lang="nl-NL" dirty="0" err="1"/>
              <a:t>identity</a:t>
            </a:r>
            <a:r>
              <a:rPr lang="nl-NL" dirty="0"/>
              <a:t>.</a:t>
            </a:r>
          </a:p>
        </p:txBody>
      </p:sp>
      <p:sp>
        <p:nvSpPr>
          <p:cNvPr id="26" name="Text 24"/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8F688-2C5D-0D8E-4DC5-CECED4CB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2C30EF-6CCA-CB00-A779-6F4F62CE1613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451796-9F13-7C25-9A15-1C161E79F09B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65761B9-C03E-B57D-07BC-73A10CD489FD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5871D0-BBF5-998A-463E-C0A88DE3C29E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E5EAB81-229A-ACA9-985C-258453B5D5C7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01F38A2-783B-4FD8-AA42-927A14DFFBBC}"/>
              </a:ext>
            </a:extLst>
          </p:cNvPr>
          <p:cNvSpPr/>
          <p:nvPr/>
        </p:nvSpPr>
        <p:spPr>
          <a:xfrm rot="-60000">
            <a:off x="685800" y="50292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8FC0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42949B-B339-3F76-FE09-74AFB5A0DE26}"/>
              </a:ext>
            </a:extLst>
          </p:cNvPr>
          <p:cNvSpPr/>
          <p:nvPr/>
        </p:nvSpPr>
        <p:spPr>
          <a:xfrm rot="-60000">
            <a:off x="640080" y="502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Today’s Topics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2B7E7AD-E754-C4FB-5A63-F8037F880462}"/>
              </a:ext>
            </a:extLst>
          </p:cNvPr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08F98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937382-785A-C6C7-7B4B-4ACFCAF1D458}"/>
              </a:ext>
            </a:extLst>
          </p:cNvPr>
          <p:cNvSpPr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27883E-8470-70D4-4ABE-E6EABDCCBF74}"/>
              </a:ext>
            </a:extLst>
          </p:cNvPr>
          <p:cNvSpPr/>
          <p:nvPr/>
        </p:nvSpPr>
        <p:spPr>
          <a:xfrm>
            <a:off x="1691640" y="192024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306DBC-E82C-0BBD-888E-32FE8F4E56E5}"/>
              </a:ext>
            </a:extLst>
          </p:cNvPr>
          <p:cNvSpPr/>
          <p:nvPr/>
        </p:nvSpPr>
        <p:spPr>
          <a:xfrm>
            <a:off x="192024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British tapestry</a:t>
            </a:r>
            <a:endParaRPr lang="en-US" sz="17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27039A2-101E-932D-5A62-3350D6ACDC6A}"/>
              </a:ext>
            </a:extLst>
          </p:cNvPr>
          <p:cNvSpPr/>
          <p:nvPr/>
        </p:nvSpPr>
        <p:spPr>
          <a:xfrm>
            <a:off x="822960" y="28346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A3BC85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6A6D452-F094-1B63-36CF-FFFF85C9CF2F}"/>
              </a:ext>
            </a:extLst>
          </p:cNvPr>
          <p:cNvSpPr/>
          <p:nvPr/>
        </p:nvSpPr>
        <p:spPr>
          <a:xfrm>
            <a:off x="82296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5290C54-25E4-5CED-0F36-0925428ACB13}"/>
              </a:ext>
            </a:extLst>
          </p:cNvPr>
          <p:cNvSpPr/>
          <p:nvPr/>
        </p:nvSpPr>
        <p:spPr>
          <a:xfrm>
            <a:off x="1691640" y="288036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D123420-537B-E4AB-4607-358F98C5274C}"/>
              </a:ext>
            </a:extLst>
          </p:cNvPr>
          <p:cNvSpPr/>
          <p:nvPr/>
        </p:nvSpPr>
        <p:spPr>
          <a:xfrm>
            <a:off x="1920240" y="28803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comprehension</a:t>
            </a:r>
            <a:endParaRPr lang="en-US" sz="17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8C5B921-50F6-DD02-77DE-AA9595FDF3A6}"/>
              </a:ext>
            </a:extLst>
          </p:cNvPr>
          <p:cNvSpPr/>
          <p:nvPr/>
        </p:nvSpPr>
        <p:spPr>
          <a:xfrm>
            <a:off x="822960" y="37947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C173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C9D84FF-5203-6D36-6F95-33E80AFF5A7F}"/>
              </a:ext>
            </a:extLst>
          </p:cNvPr>
          <p:cNvSpPr/>
          <p:nvPr/>
        </p:nvSpPr>
        <p:spPr>
          <a:xfrm>
            <a:off x="82296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2C078DD-BE3A-88C6-2380-60C63310FEAF}"/>
              </a:ext>
            </a:extLst>
          </p:cNvPr>
          <p:cNvSpPr/>
          <p:nvPr/>
        </p:nvSpPr>
        <p:spPr>
          <a:xfrm>
            <a:off x="1691640" y="384048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7020DB-A99F-C57E-C85B-39E47D8A724A}"/>
              </a:ext>
            </a:extLst>
          </p:cNvPr>
          <p:cNvSpPr/>
          <p:nvPr/>
        </p:nvSpPr>
        <p:spPr>
          <a:xfrm>
            <a:off x="1920240" y="38404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Relative pronoun</a:t>
            </a:r>
            <a:endParaRPr lang="en-US" sz="17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FA27ED5-A5BE-9347-EAC9-A2DE5208C0A1}"/>
              </a:ext>
            </a:extLst>
          </p:cNvPr>
          <p:cNvSpPr/>
          <p:nvPr/>
        </p:nvSpPr>
        <p:spPr>
          <a:xfrm>
            <a:off x="822960" y="4754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BB9BCB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ECC2142-6B03-9E20-C956-2D99FDCD2D11}"/>
              </a:ext>
            </a:extLst>
          </p:cNvPr>
          <p:cNvSpPr/>
          <p:nvPr/>
        </p:nvSpPr>
        <p:spPr>
          <a:xfrm>
            <a:off x="822960" y="4754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D3A46E8-816D-6191-3DD2-38CECDA8C498}"/>
              </a:ext>
            </a:extLst>
          </p:cNvPr>
          <p:cNvSpPr/>
          <p:nvPr/>
        </p:nvSpPr>
        <p:spPr>
          <a:xfrm>
            <a:off x="1691640" y="480060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C839EAD-07EE-5E3D-7E4B-251BFE57A610}"/>
              </a:ext>
            </a:extLst>
          </p:cNvPr>
          <p:cNvSpPr/>
          <p:nvPr/>
        </p:nvSpPr>
        <p:spPr>
          <a:xfrm>
            <a:off x="1920240" y="48006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Homework </a:t>
            </a:r>
            <a:endParaRPr lang="en-US" sz="17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3A066F1-8546-3627-A684-70F873455012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EB06578-97D8-CCC2-3595-0B8712DC26AD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45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 rot="90000">
            <a:off x="4572000" y="45720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 rot="90000">
            <a:off x="4526280" y="457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DF8F2"/>
                </a:solidFill>
                <a:latin typeface="Poppins" pitchFamily="34" charset="0"/>
                <a:cs typeface="Poppins" pitchFamily="34" charset="-120"/>
              </a:rPr>
              <a:t>Post-it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10607040" cy="4297680"/>
          </a:xfrm>
          <a:prstGeom prst="roundRect">
            <a:avLst>
              <a:gd name="adj" fmla="val 3830"/>
            </a:avLst>
          </a:prstGeom>
          <a:solidFill>
            <a:srgbClr val="F7EFE4"/>
          </a:solidFill>
          <a:ln w="25400">
            <a:solidFill>
              <a:srgbClr val="A3BC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9784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E08F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will each get a post it 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the timer starts – draw as many objects that resemble Britain as possible. Ex. The queen or a cup of tea.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A3BC85"/>
                </a:solidFill>
                <a:latin typeface="Poppins" pitchFamily="34" charset="0"/>
                <a:cs typeface="Poppins" pitchFamily="34" charset="-120"/>
              </a:rPr>
              <a:t>It is a small competition, draw as tiny as possible, so you have more space. 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13" name="Onlinemedia 12" title="2 Minute Timer">
            <a:hlinkClick r:id="" action="ppaction://media"/>
            <a:extLst>
              <a:ext uri="{FF2B5EF4-FFF2-40B4-BE49-F238E27FC236}">
                <a16:creationId xmlns:a16="http://schemas.microsoft.com/office/drawing/2014/main" id="{E6609543-CD71-3812-8FCC-EFD2E60D70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406418" y="4297971"/>
            <a:ext cx="2686035" cy="15176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3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ln w="25400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pic>
        <p:nvPicPr>
          <p:cNvPr id="3" name="Image 0" descr="art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1346509"/>
            <a:ext cx="10607040" cy="389066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169768" y="5493203"/>
            <a:ext cx="5852160" cy="548640"/>
          </a:xfrm>
          <a:prstGeom prst="roundRect">
            <a:avLst>
              <a:gd name="adj" fmla="val 26667"/>
            </a:avLst>
          </a:prstGeom>
          <a:solidFill>
            <a:srgbClr val="E08F98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2"/>
          <p:cNvSpPr/>
          <p:nvPr/>
        </p:nvSpPr>
        <p:spPr>
          <a:xfrm>
            <a:off x="3169768" y="5493203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Grayson Perry — The Comfort Blanket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65BB-FBD1-F8C8-47B8-1D82E675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A5C774-13DB-0C75-84F7-2D81FC2D7D9C}"/>
              </a:ext>
            </a:extLst>
          </p:cNvPr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3B130D-DC83-4749-5279-48DEDC49219F}"/>
              </a:ext>
            </a:extLst>
          </p:cNvPr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904966-9CA5-A3AA-9831-4EE1C9E6C760}"/>
              </a:ext>
            </a:extLst>
          </p:cNvPr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713BF0-4CA6-C2BE-1F56-353D6E0F3C5C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6C7595-8262-FEA3-2A52-8ECC4C8AB414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FC4C12E-98E4-8516-1150-D50C8E243300}"/>
              </a:ext>
            </a:extLst>
          </p:cNvPr>
          <p:cNvSpPr/>
          <p:nvPr/>
        </p:nvSpPr>
        <p:spPr>
          <a:xfrm rot="90000">
            <a:off x="4572000" y="45720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C02CD0-81AF-4EFF-7C32-CDF3D3BABC75}"/>
              </a:ext>
            </a:extLst>
          </p:cNvPr>
          <p:cNvSpPr/>
          <p:nvPr/>
        </p:nvSpPr>
        <p:spPr>
          <a:xfrm rot="90000">
            <a:off x="4526280" y="457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DF8F2"/>
                </a:solidFill>
                <a:latin typeface="Poppins" pitchFamily="34" charset="0"/>
                <a:cs typeface="Poppins" pitchFamily="34" charset="-120"/>
              </a:rPr>
              <a:t>Reading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E5C00C1-02EF-5B60-9682-345E8CFFA10B}"/>
              </a:ext>
            </a:extLst>
          </p:cNvPr>
          <p:cNvSpPr/>
          <p:nvPr/>
        </p:nvSpPr>
        <p:spPr>
          <a:xfrm>
            <a:off x="777240" y="1737360"/>
            <a:ext cx="10607040" cy="4297680"/>
          </a:xfrm>
          <a:prstGeom prst="roundRect">
            <a:avLst>
              <a:gd name="adj" fmla="val 3830"/>
            </a:avLst>
          </a:prstGeom>
          <a:solidFill>
            <a:srgbClr val="F7EFE4"/>
          </a:solidFill>
          <a:ln w="25400">
            <a:solidFill>
              <a:srgbClr val="A3BC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B507B95-9680-F9EF-7CE0-D2C68B3FB271}"/>
              </a:ext>
            </a:extLst>
          </p:cNvPr>
          <p:cNvSpPr/>
          <p:nvPr/>
        </p:nvSpPr>
        <p:spPr>
          <a:xfrm>
            <a:off x="1188720" y="2011680"/>
            <a:ext cx="9784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E08F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Skim and scan – together. 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8FC0CB"/>
                </a:solidFill>
                <a:latin typeface="Poppins" pitchFamily="34" charset="0"/>
                <a:cs typeface="Poppins" pitchFamily="34" charset="-120"/>
              </a:rPr>
              <a:t>Finish reading the text, complete the reading in detail section.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A3BC85"/>
                </a:solidFill>
                <a:latin typeface="Poppins" pitchFamily="34" charset="0"/>
                <a:cs typeface="Poppins" pitchFamily="34" charset="-120"/>
              </a:rPr>
              <a:t>Read it again – highlight </a:t>
            </a:r>
            <a:r>
              <a:rPr lang="en-US" sz="1900" b="1" dirty="0">
                <a:solidFill>
                  <a:srgbClr val="A3BC85"/>
                </a:solidFill>
                <a:latin typeface="Poppins" pitchFamily="34" charset="0"/>
                <a:cs typeface="Poppins" pitchFamily="34" charset="-120"/>
              </a:rPr>
              <a:t>who, which </a:t>
            </a:r>
            <a:r>
              <a:rPr lang="en-US" sz="1900" dirty="0">
                <a:solidFill>
                  <a:srgbClr val="A3BC85"/>
                </a:solidFill>
                <a:latin typeface="Poppins" pitchFamily="34" charset="0"/>
                <a:cs typeface="Poppins" pitchFamily="34" charset="-120"/>
              </a:rPr>
              <a:t>or </a:t>
            </a:r>
            <a:r>
              <a:rPr lang="en-US" sz="1900" b="1" dirty="0">
                <a:solidFill>
                  <a:srgbClr val="A3BC85"/>
                </a:solidFill>
                <a:latin typeface="Poppins" pitchFamily="34" charset="0"/>
                <a:cs typeface="Poppins" pitchFamily="34" charset="-120"/>
              </a:rPr>
              <a:t>that.</a:t>
            </a:r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E8C173"/>
                </a:solidFill>
                <a:latin typeface="Poppins" pitchFamily="34" charset="0"/>
                <a:cs typeface="Poppins" pitchFamily="34" charset="-120"/>
              </a:rPr>
              <a:t>Thing or person? What does the pronoun refer to? Use two different </a:t>
            </a:r>
            <a:r>
              <a:rPr lang="en-US" sz="1900" dirty="0" err="1">
                <a:solidFill>
                  <a:srgbClr val="E8C173"/>
                </a:solidFill>
                <a:latin typeface="Poppins" pitchFamily="34" charset="0"/>
                <a:cs typeface="Poppins" pitchFamily="34" charset="-120"/>
              </a:rPr>
              <a:t>colours</a:t>
            </a:r>
            <a:endParaRPr lang="en-US" sz="1900" dirty="0">
              <a:solidFill>
                <a:srgbClr val="E8C173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3AF0DC-B54A-6177-4083-28E73EE3980D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541093E-7E03-F0B3-6179-3066742EC683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102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1DA2-6A6D-0A03-331B-9D409DF1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97EF9A-99EA-6BB1-C754-9D336F39C6BB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089792-E609-5383-FD34-45DCF023DA62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FC442C-E3F2-55AE-F8DA-25ADFB72409C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15E0A4-7D79-3B91-D051-0CC57C3199A8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5047B0-A38D-1700-33D6-BE472DBA4580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DE7C4E-2414-B281-12CC-5A47161AD431}"/>
              </a:ext>
            </a:extLst>
          </p:cNvPr>
          <p:cNvSpPr/>
          <p:nvPr/>
        </p:nvSpPr>
        <p:spPr>
          <a:xfrm rot="-60000">
            <a:off x="685800" y="457200"/>
            <a:ext cx="6035040" cy="914400"/>
          </a:xfrm>
          <a:prstGeom prst="roundRect">
            <a:avLst>
              <a:gd name="adj" fmla="val 22000"/>
            </a:avLst>
          </a:prstGeom>
          <a:solidFill>
            <a:srgbClr val="A3BC85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2086E3-9E45-E053-A876-632D95DB1170}"/>
              </a:ext>
            </a:extLst>
          </p:cNvPr>
          <p:cNvSpPr/>
          <p:nvPr/>
        </p:nvSpPr>
        <p:spPr>
          <a:xfrm rot="-60000">
            <a:off x="640080" y="457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Correction</a:t>
            </a:r>
            <a:endParaRPr lang="en-US" sz="2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C22CD39-B963-3614-5A68-F2A43C7C2E24}"/>
              </a:ext>
            </a:extLst>
          </p:cNvPr>
          <p:cNvSpPr/>
          <p:nvPr/>
        </p:nvSpPr>
        <p:spPr>
          <a:xfrm>
            <a:off x="777240" y="1664208"/>
            <a:ext cx="5120640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16E296-FE9B-DC38-9CBF-C08BF9263F86}"/>
              </a:ext>
            </a:extLst>
          </p:cNvPr>
          <p:cNvSpPr/>
          <p:nvPr/>
        </p:nvSpPr>
        <p:spPr>
          <a:xfrm>
            <a:off x="1097280" y="1863106"/>
            <a:ext cx="4480560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nl-NL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Reading </a:t>
            </a:r>
            <a:r>
              <a:rPr lang="nl-NL" sz="1500" b="1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</a:t>
            </a:r>
            <a:r>
              <a:rPr lang="nl-NL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detail</a:t>
            </a:r>
            <a:br>
              <a:rPr lang="nl-NL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nl-NL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nl-NL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 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 is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famous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creating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colourful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thought-provoking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works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of art.</a:t>
            </a:r>
            <a:b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nl-NL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nl-NL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 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design of a British £10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note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b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nl-NL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nl-NL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 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Traditional: e.g. cricket,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village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greens,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gardens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pubs,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countryside. </a:t>
            </a:r>
            <a: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Modern: e.g. Britain’s many cultures, languages, and traditions. (Any one valid example each.)</a:t>
            </a:r>
            <a:b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nl-NL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nl-NL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Wealth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e.g. “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Eton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”, “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Aga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”, “green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wellies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” (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any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two</a:t>
            </a:r>
            <a:r>
              <a:rPr lang="nl-NL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). </a:t>
            </a:r>
            <a: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Working-class: e.g. “boozer”, “Blackpool”, “allotments” (any two).</a:t>
            </a:r>
            <a:endParaRPr lang="nl-NL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1200"/>
              </a:spcAft>
              <a:buSzPct val="100000"/>
            </a:pPr>
            <a:endParaRPr lang="en-US" sz="1500" dirty="0">
              <a:solidFill>
                <a:srgbClr val="8FC0CB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58BC4B1-DE21-E83D-65CD-4085781D74BE}"/>
              </a:ext>
            </a:extLst>
          </p:cNvPr>
          <p:cNvSpPr/>
          <p:nvPr/>
        </p:nvSpPr>
        <p:spPr>
          <a:xfrm>
            <a:off x="6263640" y="1664208"/>
            <a:ext cx="5120640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0FAB529-34DD-861D-CB5F-6C645EDF50AC}"/>
              </a:ext>
            </a:extLst>
          </p:cNvPr>
          <p:cNvSpPr/>
          <p:nvPr/>
        </p:nvSpPr>
        <p:spPr>
          <a:xfrm>
            <a:off x="6583680" y="1863106"/>
            <a:ext cx="4480560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br>
              <a:rPr lang="en-GB" sz="1500" b="1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GB" sz="1500" b="1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500" b="1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 </a:t>
            </a:r>
            <a: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 means “Don’t be silly!” / “I don’t believe you.” Perry includes it to remind people to question ideas rather than accept them without thinking — and because laughing at ourselves is an important British quality.</a:t>
            </a:r>
            <a:b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nl-NL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nl-NL" sz="1500" b="1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6. 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From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friend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whose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family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escaped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from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Hungary as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refugees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1956; his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friend’s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mother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called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Britain her “security blanket”.</a:t>
            </a:r>
            <a:b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nl-NL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nl-NL" sz="1500" b="1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7.  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a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citizenship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centre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new British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citizens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could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see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after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passing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their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citizenship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test — as a reminder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Britain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should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welcoming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nl-NL" sz="1500" dirty="0" err="1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protective</a:t>
            </a:r>
            <a:r>
              <a:rPr lang="nl-NL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>
              <a:spcAft>
                <a:spcPts val="1200"/>
              </a:spcAft>
              <a:buSzPct val="100000"/>
            </a:pPr>
            <a:endParaRPr lang="en-US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615A1E-746D-2891-D3D4-0767313102A1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D7F1792-F566-63D9-CA63-1C96951FD668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4174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B59B-F1CD-F876-42EC-5FE16325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6A5FBF-2BB8-8CA0-4B5F-4D19A283994A}"/>
              </a:ext>
            </a:extLst>
          </p:cNvPr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E14A81-A427-8823-EC08-D941E4A46653}"/>
              </a:ext>
            </a:extLst>
          </p:cNvPr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2D6A13-B2E9-EF78-222C-FC8EBC87C826}"/>
              </a:ext>
            </a:extLst>
          </p:cNvPr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88BD48-8C95-9820-2830-EB20CEDFF88E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6DF57E-2719-75A5-8E32-DACBAD248893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0DE7491-1E36-30B7-82BD-06E4426A89AD}"/>
              </a:ext>
            </a:extLst>
          </p:cNvPr>
          <p:cNvSpPr/>
          <p:nvPr/>
        </p:nvSpPr>
        <p:spPr>
          <a:xfrm rot="90000">
            <a:off x="4572000" y="45720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1155000-9C39-0C35-61FB-E29BD691B58B}"/>
              </a:ext>
            </a:extLst>
          </p:cNvPr>
          <p:cNvSpPr/>
          <p:nvPr/>
        </p:nvSpPr>
        <p:spPr>
          <a:xfrm rot="90000">
            <a:off x="4526280" y="457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DF8F2"/>
                </a:solidFill>
                <a:latin typeface="Poppins" pitchFamily="34" charset="0"/>
                <a:cs typeface="Poppins" pitchFamily="34" charset="-120"/>
              </a:rPr>
              <a:t>Relative pronouns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EC4D4ED-7A83-31F7-9DB6-22653900FEA8}"/>
              </a:ext>
            </a:extLst>
          </p:cNvPr>
          <p:cNvSpPr/>
          <p:nvPr/>
        </p:nvSpPr>
        <p:spPr>
          <a:xfrm>
            <a:off x="777240" y="1737360"/>
            <a:ext cx="10607040" cy="4297680"/>
          </a:xfrm>
          <a:prstGeom prst="roundRect">
            <a:avLst>
              <a:gd name="adj" fmla="val 3830"/>
            </a:avLst>
          </a:prstGeom>
          <a:solidFill>
            <a:srgbClr val="F7EFE4"/>
          </a:solidFill>
          <a:ln w="25400">
            <a:solidFill>
              <a:srgbClr val="A3BC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49BE24D-B03B-10B6-9035-625872636206}"/>
              </a:ext>
            </a:extLst>
          </p:cNvPr>
          <p:cNvSpPr/>
          <p:nvPr/>
        </p:nvSpPr>
        <p:spPr>
          <a:xfrm>
            <a:off x="1188720" y="2011680"/>
            <a:ext cx="9784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GB" sz="1900" dirty="0">
                <a:solidFill>
                  <a:srgbClr val="E08F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use relative pronouns to give extra information about a person or thing without starting a new sentence.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GB" sz="1900" b="1" dirty="0">
                <a:solidFill>
                  <a:srgbClr val="8FC0CB"/>
                </a:solidFill>
                <a:latin typeface="Poppins" pitchFamily="34" charset="0"/>
                <a:cs typeface="Poppins" pitchFamily="34" charset="-120"/>
              </a:rPr>
              <a:t>Example</a:t>
            </a: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GB" sz="1900" dirty="0">
                <a:solidFill>
                  <a:srgbClr val="8FC0CB"/>
                </a:solidFill>
                <a:latin typeface="Poppins" pitchFamily="34" charset="0"/>
                <a:cs typeface="Poppins" pitchFamily="34" charset="-120"/>
              </a:rPr>
              <a:t>Grayson Perry is an artist. He created Comfort Blanket.</a:t>
            </a:r>
          </a:p>
          <a:p>
            <a:pPr>
              <a:lnSpc>
                <a:spcPct val="115000"/>
              </a:lnSpc>
              <a:spcAft>
                <a:spcPts val="1600"/>
              </a:spcAft>
              <a:buSzPct val="100000"/>
            </a:pPr>
            <a:r>
              <a:rPr lang="en-GB" sz="1900" dirty="0">
                <a:solidFill>
                  <a:srgbClr val="8FC0CB"/>
                </a:solidFill>
                <a:latin typeface="Poppins" pitchFamily="34" charset="0"/>
                <a:cs typeface="Poppins" pitchFamily="34" charset="-120"/>
              </a:rPr>
              <a:t>➡  Grayson Perry is an artist </a:t>
            </a:r>
            <a:r>
              <a:rPr lang="en-GB" sz="1900" b="1" dirty="0">
                <a:solidFill>
                  <a:srgbClr val="8FC0CB"/>
                </a:solidFill>
                <a:latin typeface="Poppins" pitchFamily="34" charset="0"/>
                <a:cs typeface="Poppins" pitchFamily="34" charset="-120"/>
              </a:rPr>
              <a:t>who</a:t>
            </a:r>
            <a:r>
              <a:rPr lang="en-GB" sz="1900" dirty="0">
                <a:solidFill>
                  <a:srgbClr val="8FC0CB"/>
                </a:solidFill>
                <a:latin typeface="Poppins" pitchFamily="34" charset="0"/>
                <a:cs typeface="Poppins" pitchFamily="34" charset="-120"/>
              </a:rPr>
              <a:t> created Comfort Blanket.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1F1283B-EF69-1048-C194-9ACFC55B169F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AF0D628-AC43-EC68-7137-A7C27EA13D50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406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 rot="-60000">
            <a:off x="2194560" y="457200"/>
            <a:ext cx="7772400" cy="914400"/>
          </a:xfrm>
          <a:prstGeom prst="roundRect">
            <a:avLst>
              <a:gd name="adj" fmla="val 22000"/>
            </a:avLst>
          </a:prstGeom>
          <a:solidFill>
            <a:srgbClr val="E08F98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 rot="-60000">
            <a:off x="2148840" y="457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Relative pronouns – who, which, that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3154680" cy="4114800"/>
          </a:xfrm>
          <a:prstGeom prst="roundRect">
            <a:avLst>
              <a:gd name="adj" fmla="val 5797"/>
            </a:avLst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1897380" y="2057400"/>
            <a:ext cx="914400" cy="914400"/>
          </a:xfrm>
          <a:prstGeom prst="ellipse">
            <a:avLst/>
          </a:prstGeom>
          <a:solidFill>
            <a:srgbClr val="FDF8F2"/>
          </a:solidFill>
          <a:ln w="1905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89738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</a:t>
            </a:r>
            <a:endParaRPr lang="en-US" sz="1500" dirty="0">
              <a:solidFill>
                <a:srgbClr val="8FC0CB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315468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7EFE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People </a:t>
            </a:r>
            <a:br>
              <a:rPr lang="en-US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br>
              <a:rPr lang="en-US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Grayson Perry is an artist who created Comfort Blanket.</a:t>
            </a:r>
            <a:br>
              <a:rPr lang="en-US" sz="13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endParaRPr lang="en-US" sz="1300" dirty="0">
              <a:solidFill>
                <a:srgbClr val="4A3B52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3154680" cy="4114800"/>
          </a:xfrm>
          <a:prstGeom prst="roundRect">
            <a:avLst>
              <a:gd name="adj" fmla="val 5797"/>
            </a:avLst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5646420" y="2057400"/>
            <a:ext cx="914400" cy="914400"/>
          </a:xfrm>
          <a:prstGeom prst="ellipse">
            <a:avLst/>
          </a:prstGeom>
          <a:solidFill>
            <a:srgbClr val="FDF8F2"/>
          </a:solidFill>
          <a:ln w="1905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64642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C17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</a:t>
            </a:r>
            <a:endParaRPr lang="en-US" sz="1500" dirty="0">
              <a:solidFill>
                <a:srgbClr val="E8C173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7EFE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Animals or things</a:t>
            </a:r>
            <a:b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500" dirty="0">
                <a:latin typeface="Poppins" panose="00000500000000000000" pitchFamily="2" charset="0"/>
                <a:cs typeface="Poppins" panose="00000500000000000000" pitchFamily="2" charset="0"/>
              </a:rPr>
              <a:t>Comfort Blanket is an artwork which represents Britain.</a:t>
            </a:r>
            <a:endParaRPr lang="en-US" sz="15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75320" y="1783080"/>
            <a:ext cx="3154680" cy="4114800"/>
          </a:xfrm>
          <a:prstGeom prst="roundRect">
            <a:avLst>
              <a:gd name="adj" fmla="val 5797"/>
            </a:avLst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9395460" y="2057400"/>
            <a:ext cx="914400" cy="914400"/>
          </a:xfrm>
          <a:prstGeom prst="ellipse">
            <a:avLst/>
          </a:prstGeom>
          <a:solidFill>
            <a:srgbClr val="FDF8F2"/>
          </a:solidFill>
          <a:ln w="1905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939546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B9B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</a:t>
            </a:r>
            <a:endParaRPr lang="en-US" sz="1500" dirty="0">
              <a:solidFill>
                <a:srgbClr val="BB9BC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03920" y="3154680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F7EFE4"/>
          </a:solidFill>
          <a:ln/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8686800" y="32918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latin typeface="Poppins" panose="00000500000000000000" pitchFamily="2" charset="0"/>
                <a:cs typeface="Poppins" panose="00000500000000000000" pitchFamily="2" charset="0"/>
              </a:rPr>
              <a:t>people, animals, and things (less formal)</a:t>
            </a:r>
            <a:br>
              <a:rPr lang="en-GB" sz="1500" dirty="0"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GB" sz="15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500" dirty="0">
                <a:latin typeface="Poppins" panose="00000500000000000000" pitchFamily="2" charset="0"/>
                <a:cs typeface="Poppins" panose="00000500000000000000" pitchFamily="2" charset="0"/>
              </a:rPr>
              <a:t>The symbols that appear in the artwork represent different communities.</a:t>
            </a:r>
            <a:endParaRPr lang="en-US" sz="15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1D74A-C209-88C9-6707-ADF36C1FC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AD590D-544D-D2B2-F74B-BE47E06C3F17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2100BF-D4E1-428A-48AB-518DAE84E28F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FF9873-D3A0-DD12-BA76-628DA558DA82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E49E1A-2940-0677-242C-FEEBF2422A00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7FA609-5CDC-9D1C-69D3-A35A1ED51FB2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930FEB-6BEC-4BAE-129A-308524C35143}"/>
              </a:ext>
            </a:extLst>
          </p:cNvPr>
          <p:cNvSpPr/>
          <p:nvPr/>
        </p:nvSpPr>
        <p:spPr>
          <a:xfrm rot="-60000">
            <a:off x="685800" y="457200"/>
            <a:ext cx="6035040" cy="914400"/>
          </a:xfrm>
          <a:prstGeom prst="roundRect">
            <a:avLst>
              <a:gd name="adj" fmla="val 22000"/>
            </a:avLst>
          </a:prstGeom>
          <a:solidFill>
            <a:srgbClr val="A3BC85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24FE74-0B90-779B-BFDD-943475BC3CCB}"/>
              </a:ext>
            </a:extLst>
          </p:cNvPr>
          <p:cNvSpPr/>
          <p:nvPr/>
        </p:nvSpPr>
        <p:spPr>
          <a:xfrm rot="-60000">
            <a:off x="640080" y="457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Correction 3.3</a:t>
            </a:r>
            <a:endParaRPr lang="en-US" sz="2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E97382F-064F-1AC1-754B-39C38F3C11C5}"/>
              </a:ext>
            </a:extLst>
          </p:cNvPr>
          <p:cNvSpPr/>
          <p:nvPr/>
        </p:nvSpPr>
        <p:spPr>
          <a:xfrm>
            <a:off x="777239" y="1664208"/>
            <a:ext cx="10820095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B174796-A06F-CE61-CB16-55B03D0ED4B1}"/>
              </a:ext>
            </a:extLst>
          </p:cNvPr>
          <p:cNvSpPr/>
          <p:nvPr/>
        </p:nvSpPr>
        <p:spPr>
          <a:xfrm>
            <a:off x="1097279" y="1863106"/>
            <a:ext cx="10151745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who </a:t>
            </a:r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— Grayson Perry is a person. 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</a:t>
            </a:r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— The tapestry is an object.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which </a:t>
            </a:r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— it refers to the phrase, which is an object.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</a:t>
            </a:r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— The Queen is a person.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 </a:t>
            </a:r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—Both are correct here; there is no comma, so either is acceptable. </a:t>
            </a:r>
          </a:p>
          <a:p>
            <a:pPr>
              <a:spcAft>
                <a:spcPts val="1200"/>
              </a:spcAft>
              <a:buSzPct val="100000"/>
            </a:pPr>
            <a:endParaRPr lang="en-US" sz="1500" dirty="0">
              <a:solidFill>
                <a:srgbClr val="8FC0CB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C64B111-8714-DC7E-0960-842326B8DA67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40DAD80-10D7-78BD-30E9-B8541AB250CC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9872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1F4F-17BA-583A-6BCF-CB291ADD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52E0B3-367C-532C-4F1D-8224D691366D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11282F-D153-845A-EAD2-2F95443BF170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4C8C32-1CA2-AC55-9F3A-1802EEEE6265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3F2C31-D6CE-C7E6-F6D7-439B1CBE126F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BEE4454-8744-92C7-05BC-4E9C6E2B063F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F812F1-659F-8FCF-2DF3-249CBDE0B7AE}"/>
              </a:ext>
            </a:extLst>
          </p:cNvPr>
          <p:cNvSpPr/>
          <p:nvPr/>
        </p:nvSpPr>
        <p:spPr>
          <a:xfrm rot="-60000">
            <a:off x="685800" y="457200"/>
            <a:ext cx="6035040" cy="914400"/>
          </a:xfrm>
          <a:prstGeom prst="roundRect">
            <a:avLst>
              <a:gd name="adj" fmla="val 22000"/>
            </a:avLst>
          </a:prstGeom>
          <a:solidFill>
            <a:srgbClr val="A3BC85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0B806B-4EA4-EEC2-66F9-1D0B4F5569C8}"/>
              </a:ext>
            </a:extLst>
          </p:cNvPr>
          <p:cNvSpPr/>
          <p:nvPr/>
        </p:nvSpPr>
        <p:spPr>
          <a:xfrm rot="-60000">
            <a:off x="640080" y="457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Correction 3.4</a:t>
            </a:r>
            <a:endParaRPr lang="en-US" sz="2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118C98C-7C52-417C-FA44-D0820FBE8D97}"/>
              </a:ext>
            </a:extLst>
          </p:cNvPr>
          <p:cNvSpPr/>
          <p:nvPr/>
        </p:nvSpPr>
        <p:spPr>
          <a:xfrm>
            <a:off x="777239" y="1664208"/>
            <a:ext cx="10820095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5FDECA7-D716-F1BF-320C-1ABBA5937456}"/>
              </a:ext>
            </a:extLst>
          </p:cNvPr>
          <p:cNvSpPr/>
          <p:nvPr/>
        </p:nvSpPr>
        <p:spPr>
          <a:xfrm>
            <a:off x="1097279" y="1863106"/>
            <a:ext cx="10151745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Which / that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Which / that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</a:t>
            </a:r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</a:t>
            </a:r>
          </a:p>
          <a:p>
            <a:b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6.  </a:t>
            </a: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 </a:t>
            </a:r>
          </a:p>
          <a:p>
            <a:pPr>
              <a:spcAft>
                <a:spcPts val="1200"/>
              </a:spcAft>
              <a:buSzPct val="100000"/>
            </a:pPr>
            <a:endParaRPr lang="en-US" sz="1500" dirty="0">
              <a:solidFill>
                <a:srgbClr val="8FC0CB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83BC50B-3D0A-789A-22D0-C1B13B29C9E8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57B2D3C-67E1-1FCF-BBBC-1F8B7968062C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1823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53315-DE58-BE57-4049-E22134BE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019AEE-F418-AFAA-274B-FA8A21F6C84B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C54DEA-7F50-31CF-73D4-1FEFA18095F2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0FAC33-AD58-28EA-461B-3179B127F402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9BCF82-2482-8027-B567-F2D32D8E8730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BAF0259-D2B5-62C8-721A-C53B6A6F85E8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218954-788A-33B7-0573-F0BC5D89F303}"/>
              </a:ext>
            </a:extLst>
          </p:cNvPr>
          <p:cNvSpPr/>
          <p:nvPr/>
        </p:nvSpPr>
        <p:spPr>
          <a:xfrm rot="-60000">
            <a:off x="685800" y="457200"/>
            <a:ext cx="6035040" cy="914400"/>
          </a:xfrm>
          <a:prstGeom prst="roundRect">
            <a:avLst>
              <a:gd name="adj" fmla="val 22000"/>
            </a:avLst>
          </a:prstGeom>
          <a:solidFill>
            <a:srgbClr val="A3BC85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6F273B-3C06-8F83-3A22-5B059ECDFB66}"/>
              </a:ext>
            </a:extLst>
          </p:cNvPr>
          <p:cNvSpPr/>
          <p:nvPr/>
        </p:nvSpPr>
        <p:spPr>
          <a:xfrm rot="-60000">
            <a:off x="640080" y="457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Correction 3.5</a:t>
            </a:r>
            <a:endParaRPr lang="en-US" sz="2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E2BCDC-B5B5-1283-FD62-53195557C36B}"/>
              </a:ext>
            </a:extLst>
          </p:cNvPr>
          <p:cNvSpPr/>
          <p:nvPr/>
        </p:nvSpPr>
        <p:spPr>
          <a:xfrm>
            <a:off x="777239" y="1664208"/>
            <a:ext cx="10820095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791CF7-0EA9-B11C-5763-70090372D771}"/>
              </a:ext>
            </a:extLst>
          </p:cNvPr>
          <p:cNvSpPr/>
          <p:nvPr/>
        </p:nvSpPr>
        <p:spPr>
          <a:xfrm>
            <a:off x="1097279" y="1863106"/>
            <a:ext cx="10151745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Grayson Perry is an artist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creates colourful artworks.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who for a person, not which.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symbols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appear in the collage represent Britain.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that/which for a thing, not who.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Queen is a person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recognised around the world.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who for a person, not which.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images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Perry selected show different parts of British society.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that/which for a thing, not who.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museum is a place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displays artworks.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that/which for a place/thing, not who.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People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 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visit the exhibition may have different opinions.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who/that for people, not which.</a:t>
            </a:r>
            <a:b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</a:t>
            </a:r>
            <a:endParaRPr lang="en-US" sz="1500" dirty="0">
              <a:solidFill>
                <a:srgbClr val="8FC0CB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0551424-A464-BB4B-C74E-98B47A2B082B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2EB5B6F-542D-8644-EF66-69EC3F48730C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506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258E-0C63-75FE-22FB-7F4F30C4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980B63-21C5-53B8-73CC-C6F2B78D814B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91945C-5483-EBB9-9C05-90633ABB3219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3BEEAB-2533-9A71-4B6F-E9B6E8959765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9CF4CF-A4AB-9737-B0EA-059F3241F8DC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F45324A-F3A4-7E60-80F8-62A2C1450405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C0A506B-43F5-0AA5-E1AE-C00103B5E81F}"/>
              </a:ext>
            </a:extLst>
          </p:cNvPr>
          <p:cNvSpPr/>
          <p:nvPr/>
        </p:nvSpPr>
        <p:spPr>
          <a:xfrm rot="-60000">
            <a:off x="685800" y="457200"/>
            <a:ext cx="6035040" cy="914400"/>
          </a:xfrm>
          <a:prstGeom prst="roundRect">
            <a:avLst>
              <a:gd name="adj" fmla="val 22000"/>
            </a:avLst>
          </a:prstGeom>
          <a:solidFill>
            <a:srgbClr val="A3BC85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ABCFD88-077E-AEBE-87D3-99CFCEB4E2EF}"/>
              </a:ext>
            </a:extLst>
          </p:cNvPr>
          <p:cNvSpPr/>
          <p:nvPr/>
        </p:nvSpPr>
        <p:spPr>
          <a:xfrm rot="-60000">
            <a:off x="640080" y="457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Correction 3.5</a:t>
            </a:r>
            <a:endParaRPr lang="en-US" sz="2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99D10ED-DE10-697B-4FDE-D71EDB32B255}"/>
              </a:ext>
            </a:extLst>
          </p:cNvPr>
          <p:cNvSpPr/>
          <p:nvPr/>
        </p:nvSpPr>
        <p:spPr>
          <a:xfrm>
            <a:off x="777239" y="1664208"/>
            <a:ext cx="10820095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6E60B3A-EAB0-F53E-B4F8-C8875859D9E7}"/>
              </a:ext>
            </a:extLst>
          </p:cNvPr>
          <p:cNvSpPr/>
          <p:nvPr/>
        </p:nvSpPr>
        <p:spPr>
          <a:xfrm>
            <a:off x="1097279" y="1863106"/>
            <a:ext cx="10151745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Grayson Perry is an artist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creates colourful artworks.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who for a person, not which.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symbols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appear in the collage represent Britain.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that/which for a thing, not who.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Queen is a person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recognised around the world.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who for a person, not which.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images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Perry selected show different parts of British society.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that/which for a thing, not who.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museum is a place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 / that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displays artworks.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that/which for a place/thing, not who.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4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AutoNum type="arabicPeriod"/>
            </a:pP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People </a:t>
            </a:r>
            <a:r>
              <a:rPr lang="en-GB" sz="14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/ that  </a:t>
            </a: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visit the exhibition may have different opinions.</a:t>
            </a:r>
            <a:b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14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Mistake: who/that for people, not which.</a:t>
            </a:r>
            <a:b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</a:t>
            </a:r>
            <a:endParaRPr lang="en-US" sz="1500" dirty="0">
              <a:solidFill>
                <a:srgbClr val="8FC0CB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CCB293A-5720-0D56-1517-A83289D31544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3AED09F-588B-6A3E-59F1-E8DDBA9AE6FC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76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8BA5B-8B41-C560-1586-33A1F596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742F45-1801-70D8-1F79-E9B242AE44E2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9D6DAB-0408-F05E-5E63-4409D2D6C384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1AEF88-0FE4-22B9-608C-6B30382079A8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755B16-1FB2-720C-1F23-3EBB72C18ECC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F224E37-044D-6E2A-D161-58BFA7159790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7561BF7-E2DA-37E2-E244-27DE7FA4A8E6}"/>
              </a:ext>
            </a:extLst>
          </p:cNvPr>
          <p:cNvSpPr/>
          <p:nvPr/>
        </p:nvSpPr>
        <p:spPr>
          <a:xfrm rot="-60000">
            <a:off x="685800" y="457200"/>
            <a:ext cx="6035040" cy="914400"/>
          </a:xfrm>
          <a:prstGeom prst="roundRect">
            <a:avLst>
              <a:gd name="adj" fmla="val 22000"/>
            </a:avLst>
          </a:prstGeom>
          <a:solidFill>
            <a:srgbClr val="A3BC85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B29B3D-4809-EE47-46EC-5A0EDA4C006E}"/>
              </a:ext>
            </a:extLst>
          </p:cNvPr>
          <p:cNvSpPr/>
          <p:nvPr/>
        </p:nvSpPr>
        <p:spPr>
          <a:xfrm rot="-60000">
            <a:off x="640080" y="457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Homework/start in class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8542DE2-99CC-B144-7BAB-434E6A5E9E75}"/>
              </a:ext>
            </a:extLst>
          </p:cNvPr>
          <p:cNvSpPr/>
          <p:nvPr/>
        </p:nvSpPr>
        <p:spPr>
          <a:xfrm>
            <a:off x="777240" y="1664208"/>
            <a:ext cx="5120640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DD70D15-5598-8424-2FAB-8304D0ED586E}"/>
              </a:ext>
            </a:extLst>
          </p:cNvPr>
          <p:cNvSpPr/>
          <p:nvPr/>
        </p:nvSpPr>
        <p:spPr>
          <a:xfrm>
            <a:off x="1097280" y="1863106"/>
            <a:ext cx="4480560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Ex. 4 </a:t>
            </a:r>
            <a:br>
              <a:rPr lang="en-GB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b="1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Choose a country to make your collage about. </a:t>
            </a:r>
            <a:b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Think of 6-10 items that makes your country unique. </a:t>
            </a:r>
            <a:b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Complete your collage using items/mediums you like. </a:t>
            </a:r>
            <a:b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Check if you have at least 6 country specific items.</a:t>
            </a:r>
            <a:br>
              <a:rPr lang="en-GB" sz="1500" b="1" dirty="0">
                <a:solidFill>
                  <a:srgbClr val="8FC0C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nl-NL" sz="1500" dirty="0">
              <a:solidFill>
                <a:srgbClr val="8FC0C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1200"/>
              </a:spcAft>
              <a:buSzPct val="100000"/>
            </a:pPr>
            <a:endParaRPr lang="en-US" sz="1500" dirty="0">
              <a:solidFill>
                <a:srgbClr val="8FC0CB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D688717-4C1B-D566-427F-9258179FBDDA}"/>
              </a:ext>
            </a:extLst>
          </p:cNvPr>
          <p:cNvSpPr/>
          <p:nvPr/>
        </p:nvSpPr>
        <p:spPr>
          <a:xfrm>
            <a:off x="6263640" y="1664208"/>
            <a:ext cx="5120640" cy="4370832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7A98271-E83A-BC22-0663-E3E06BABCEA1}"/>
              </a:ext>
            </a:extLst>
          </p:cNvPr>
          <p:cNvSpPr/>
          <p:nvPr/>
        </p:nvSpPr>
        <p:spPr>
          <a:xfrm>
            <a:off x="6583680" y="1863106"/>
            <a:ext cx="4480560" cy="3989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500" b="1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Ex. 5 </a:t>
            </a:r>
          </a:p>
          <a:p>
            <a:endParaRPr lang="en-GB" sz="1500" b="1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Write a museum label, use 100-150 words.</a:t>
            </a:r>
            <a:b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 at least 3 relative clauses, preferably one of each. (who, which, that)</a:t>
            </a:r>
            <a:b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Mention which country and why.</a:t>
            </a:r>
            <a:b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Mention which symbols your chose. </a:t>
            </a:r>
            <a:b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GB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E08F9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Explain your message behind the collage.</a:t>
            </a:r>
          </a:p>
          <a:p>
            <a:endParaRPr lang="nl-NL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1200"/>
              </a:spcAft>
              <a:buSzPct val="100000"/>
            </a:pPr>
            <a:endParaRPr lang="en-US" sz="1500" dirty="0">
              <a:solidFill>
                <a:srgbClr val="E08F9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E678F2-AA28-F3BD-0018-86628E840F2A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F55294C-91F7-41F8-B990-6C6C29689BDC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459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692F7-0429-1044-D9B5-92E3A8CF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A073BB-B2E0-189A-7557-5AE5AD37F215}"/>
              </a:ext>
            </a:extLst>
          </p:cNvPr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07BD89-6B91-0E88-0C9D-22F7FA1D741B}"/>
              </a:ext>
            </a:extLst>
          </p:cNvPr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88402F-D935-A100-CE3B-C38E6CFB6B39}"/>
              </a:ext>
            </a:extLst>
          </p:cNvPr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94AA766-8308-8F15-0E12-744EB4A421F3}"/>
              </a:ext>
            </a:extLst>
          </p:cNvPr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3E8BB7-26AF-2067-C426-6B6FF8B4FA47}"/>
              </a:ext>
            </a:extLst>
          </p:cNvPr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113A7DB-D3DC-D6FB-DACF-DBC7AA9036C1}"/>
              </a:ext>
            </a:extLst>
          </p:cNvPr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6847854-406C-9605-4CB1-B83885D6FF40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D9CA538-BB03-5CF1-4767-19F6C4A42AB8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EDA4949-7923-CD75-2521-5DA0B4E71FB2}"/>
              </a:ext>
            </a:extLst>
          </p:cNvPr>
          <p:cNvSpPr/>
          <p:nvPr/>
        </p:nvSpPr>
        <p:spPr>
          <a:xfrm rot="72000">
            <a:off x="2377440" y="2468880"/>
            <a:ext cx="7406640" cy="1463040"/>
          </a:xfrm>
          <a:prstGeom prst="roundRect">
            <a:avLst>
              <a:gd name="adj" fmla="val 175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861306-9A9C-DADB-CBC8-7F6A29E5EE33}"/>
              </a:ext>
            </a:extLst>
          </p:cNvPr>
          <p:cNvSpPr/>
          <p:nvPr/>
        </p:nvSpPr>
        <p:spPr>
          <a:xfrm rot="72000">
            <a:off x="2377440" y="246888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Homework</a:t>
            </a:r>
            <a:endParaRPr lang="en-US" sz="3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7C4C580-6EAB-F658-AB84-4BE5D069B61F}"/>
              </a:ext>
            </a:extLst>
          </p:cNvPr>
          <p:cNvSpPr/>
          <p:nvPr/>
        </p:nvSpPr>
        <p:spPr>
          <a:xfrm>
            <a:off x="3200400" y="4297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Finish your collage and museum label.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F93BD8C-6352-1C60-8C68-85D383CD310F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FB3799-643A-36F0-7E79-39B04EE399B2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5286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4006-17F5-6A89-C2BC-CD06CF20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201A77-FEAD-8020-E9C5-A7CA20F1177F}"/>
              </a:ext>
            </a:extLst>
          </p:cNvPr>
          <p:cNvSpPr/>
          <p:nvPr/>
        </p:nvSpPr>
        <p:spPr>
          <a:xfrm rot="-120000">
            <a:off x="0" y="0"/>
            <a:ext cx="3291840" cy="1554480"/>
          </a:xfrm>
          <a:prstGeom prst="rect">
            <a:avLst/>
          </a:prstGeom>
          <a:solidFill>
            <a:srgbClr val="A3BC85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9ABD12-A126-D682-F0D5-5AF5CF859A46}"/>
              </a:ext>
            </a:extLst>
          </p:cNvPr>
          <p:cNvSpPr/>
          <p:nvPr/>
        </p:nvSpPr>
        <p:spPr>
          <a:xfrm rot="90000">
            <a:off x="3017520" y="0"/>
            <a:ext cx="2286000" cy="123444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44661A-0B5B-024F-2778-FEEC28C3F85B}"/>
              </a:ext>
            </a:extLst>
          </p:cNvPr>
          <p:cNvSpPr/>
          <p:nvPr/>
        </p:nvSpPr>
        <p:spPr>
          <a:xfrm rot="-60000">
            <a:off x="5120640" y="0"/>
            <a:ext cx="3291840" cy="960120"/>
          </a:xfrm>
          <a:prstGeom prst="rect">
            <a:avLst/>
          </a:prstGeom>
          <a:solidFill>
            <a:srgbClr val="8FC0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3380E3-4167-EC3B-75D8-4B2FF9D7267D}"/>
              </a:ext>
            </a:extLst>
          </p:cNvPr>
          <p:cNvSpPr/>
          <p:nvPr/>
        </p:nvSpPr>
        <p:spPr>
          <a:xfrm rot="60000">
            <a:off x="8229600" y="0"/>
            <a:ext cx="3959352" cy="1371600"/>
          </a:xfrm>
          <a:prstGeom prst="rect">
            <a:avLst/>
          </a:prstGeom>
          <a:solidFill>
            <a:srgbClr val="BB9B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035CA7F-0442-894E-A8CB-8C72509C4544}"/>
              </a:ext>
            </a:extLst>
          </p:cNvPr>
          <p:cNvSpPr/>
          <p:nvPr/>
        </p:nvSpPr>
        <p:spPr>
          <a:xfrm rot="-90000">
            <a:off x="0" y="1417320"/>
            <a:ext cx="2011680" cy="1828800"/>
          </a:xfrm>
          <a:prstGeom prst="rect">
            <a:avLst/>
          </a:prstGeom>
          <a:solidFill>
            <a:srgbClr val="E08F98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1D67C8F-862B-55AC-5BE0-9B0EA0F9BCEA}"/>
              </a:ext>
            </a:extLst>
          </p:cNvPr>
          <p:cNvSpPr/>
          <p:nvPr/>
        </p:nvSpPr>
        <p:spPr>
          <a:xfrm rot="120000">
            <a:off x="0" y="3108960"/>
            <a:ext cx="2286000" cy="192024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A9996C7-16B5-5625-57FD-BA58B583A8EA}"/>
              </a:ext>
            </a:extLst>
          </p:cNvPr>
          <p:cNvSpPr/>
          <p:nvPr/>
        </p:nvSpPr>
        <p:spPr>
          <a:xfrm rot="-60000">
            <a:off x="0" y="4892040"/>
            <a:ext cx="2651760" cy="1965960"/>
          </a:xfrm>
          <a:prstGeom prst="rect">
            <a:avLst/>
          </a:prstGeom>
          <a:solidFill>
            <a:srgbClr val="8FC0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BD70ACC-CEF7-13FB-1685-D6DA4BCE6BB6}"/>
              </a:ext>
            </a:extLst>
          </p:cNvPr>
          <p:cNvSpPr/>
          <p:nvPr/>
        </p:nvSpPr>
        <p:spPr>
          <a:xfrm rot="90000">
            <a:off x="9784080" y="1234440"/>
            <a:ext cx="2404872" cy="2286000"/>
          </a:xfrm>
          <a:prstGeom prst="rect">
            <a:avLst/>
          </a:prstGeom>
          <a:solidFill>
            <a:srgbClr val="A3BC85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76E5EA1-06EF-21B2-9351-FDBE8CBE2D5E}"/>
              </a:ext>
            </a:extLst>
          </p:cNvPr>
          <p:cNvSpPr/>
          <p:nvPr/>
        </p:nvSpPr>
        <p:spPr>
          <a:xfrm rot="-120000">
            <a:off x="9601200" y="3429000"/>
            <a:ext cx="2587752" cy="1737360"/>
          </a:xfrm>
          <a:prstGeom prst="rect">
            <a:avLst/>
          </a:prstGeom>
          <a:solidFill>
            <a:srgbClr val="E08F98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553F63D-8939-CBF9-0755-A5A7C98ADF86}"/>
              </a:ext>
            </a:extLst>
          </p:cNvPr>
          <p:cNvSpPr/>
          <p:nvPr/>
        </p:nvSpPr>
        <p:spPr>
          <a:xfrm rot="60000">
            <a:off x="9921240" y="5074920"/>
            <a:ext cx="2267712" cy="178308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BA07EF8-2228-9503-E6EE-BE04F6943B24}"/>
              </a:ext>
            </a:extLst>
          </p:cNvPr>
          <p:cNvSpPr/>
          <p:nvPr/>
        </p:nvSpPr>
        <p:spPr>
          <a:xfrm rot="-60000">
            <a:off x="274320" y="5989320"/>
            <a:ext cx="4572000" cy="1188720"/>
          </a:xfrm>
          <a:prstGeom prst="rect">
            <a:avLst/>
          </a:prstGeom>
          <a:solidFill>
            <a:srgbClr val="BB9BCB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D0B86F8-BC65-3AB9-227F-9CB9FF8C83CC}"/>
              </a:ext>
            </a:extLst>
          </p:cNvPr>
          <p:cNvSpPr/>
          <p:nvPr/>
        </p:nvSpPr>
        <p:spPr>
          <a:xfrm rot="90000">
            <a:off x="7223760" y="5852160"/>
            <a:ext cx="4846320" cy="1280160"/>
          </a:xfrm>
          <a:prstGeom prst="rect">
            <a:avLst/>
          </a:prstGeom>
          <a:solidFill>
            <a:srgbClr val="A3BC85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E79D181-7E8C-23C8-4F52-2D3140325F8B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F11BBD-9A58-8C47-671D-07635D574FF4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BAEF12A-2275-F591-99A8-ABA453048254}"/>
              </a:ext>
            </a:extLst>
          </p:cNvPr>
          <p:cNvSpPr/>
          <p:nvPr/>
        </p:nvSpPr>
        <p:spPr>
          <a:xfrm rot="-90000">
            <a:off x="2011680" y="2331720"/>
            <a:ext cx="8165592" cy="2286000"/>
          </a:xfrm>
          <a:prstGeom prst="ellipse">
            <a:avLst/>
          </a:prstGeom>
          <a:solidFill>
            <a:srgbClr val="FDF8F2"/>
          </a:solidFill>
          <a:ln w="44450">
            <a:solidFill>
              <a:srgbClr val="4A3B52"/>
            </a:solidFill>
            <a:prstDash val="solid"/>
          </a:ln>
          <a:effectLst>
            <a:outerShdw blurRad="76200" dist="508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08D1BA7-B6C2-BBD0-0CDF-4F1B702D5195}"/>
              </a:ext>
            </a:extLst>
          </p:cNvPr>
          <p:cNvSpPr/>
          <p:nvPr/>
        </p:nvSpPr>
        <p:spPr>
          <a:xfrm rot="-90000">
            <a:off x="2286000" y="2606040"/>
            <a:ext cx="7616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British tapestry</a:t>
            </a:r>
            <a:endParaRPr lang="en-US" sz="3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CABEE44-775A-4536-CDEB-2BDEA84518A6}"/>
              </a:ext>
            </a:extLst>
          </p:cNvPr>
          <p:cNvSpPr/>
          <p:nvPr/>
        </p:nvSpPr>
        <p:spPr>
          <a:xfrm rot="-90000">
            <a:off x="3657600" y="3657600"/>
            <a:ext cx="4846320" cy="658368"/>
          </a:xfrm>
          <a:prstGeom prst="roundRect">
            <a:avLst>
              <a:gd name="adj" fmla="val 25000"/>
            </a:avLst>
          </a:prstGeom>
          <a:solidFill>
            <a:srgbClr val="E08F98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9F9965C-F1F7-0E10-D43C-966DFD30ECBE}"/>
              </a:ext>
            </a:extLst>
          </p:cNvPr>
          <p:cNvSpPr/>
          <p:nvPr/>
        </p:nvSpPr>
        <p:spPr>
          <a:xfrm rot="-90000">
            <a:off x="3657600" y="3757495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English  ·  B1  ·  Lesson 2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B4D14C7-DFE9-97BD-C12B-4597A686F8C6}"/>
              </a:ext>
            </a:extLst>
          </p:cNvPr>
          <p:cNvSpPr/>
          <p:nvPr/>
        </p:nvSpPr>
        <p:spPr>
          <a:xfrm rot="60000">
            <a:off x="4605283" y="6178028"/>
            <a:ext cx="3090421" cy="1783080"/>
          </a:xfrm>
          <a:prstGeom prst="rect">
            <a:avLst/>
          </a:prstGeom>
          <a:solidFill>
            <a:srgbClr val="E8C173"/>
          </a:solidFill>
          <a:ln w="508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2845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 rot="-60000">
            <a:off x="685800" y="50292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8FC0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 rot="-60000">
            <a:off x="640080" y="502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Today’s Topics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08F98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91640" y="192024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192024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Homework check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A3BC85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82296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691640" y="288036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1920240" y="28803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Gallery walk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8C173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691640" y="384048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1920240" y="38404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Museum Curator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BB9BCB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691640" y="4800600"/>
            <a:ext cx="7863840" cy="594360"/>
          </a:xfrm>
          <a:prstGeom prst="roundRect">
            <a:avLst>
              <a:gd name="adj" fmla="val 18462"/>
            </a:avLst>
          </a:prstGeom>
          <a:solidFill>
            <a:srgbClr val="F7EFE4"/>
          </a:solidFill>
          <a:ln w="12700">
            <a:solidFill>
              <a:srgbClr val="4A3B5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1920240" y="48006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Exit ticket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2FDC8-EB89-3BA9-DC30-E0F25A2D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C2241B-F74A-D9B4-A15A-9B1531A486FB}"/>
              </a:ext>
            </a:extLst>
          </p:cNvPr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15FB7F-D97B-B2DB-59B2-99128123A29F}"/>
              </a:ext>
            </a:extLst>
          </p:cNvPr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EDDBA2-F0B6-01FC-894A-DD6A548FA31F}"/>
              </a:ext>
            </a:extLst>
          </p:cNvPr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DB802B-3D5B-FB6B-FB71-A99140BF126E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4E0F48-27CC-473B-D6FC-680ACACF9521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C68936-60EC-C82D-B68B-C1B688D9A62A}"/>
              </a:ext>
            </a:extLst>
          </p:cNvPr>
          <p:cNvSpPr/>
          <p:nvPr/>
        </p:nvSpPr>
        <p:spPr>
          <a:xfrm rot="78000">
            <a:off x="4572000" y="45720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E5B4F1-DE3C-AE2F-BAAB-2541480DE71A}"/>
              </a:ext>
            </a:extLst>
          </p:cNvPr>
          <p:cNvSpPr/>
          <p:nvPr/>
        </p:nvSpPr>
        <p:spPr>
          <a:xfrm rot="78000">
            <a:off x="4526280" y="457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Lesson Goals</a:t>
            </a:r>
            <a:endParaRPr lang="en-US" sz="2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6C4E8BA-2B5B-FB96-005F-1455A2D65800}"/>
              </a:ext>
            </a:extLst>
          </p:cNvPr>
          <p:cNvSpPr/>
          <p:nvPr/>
        </p:nvSpPr>
        <p:spPr>
          <a:xfrm>
            <a:off x="822960" y="1660252"/>
            <a:ext cx="502920" cy="502920"/>
          </a:xfrm>
          <a:prstGeom prst="ellipse">
            <a:avLst/>
          </a:prstGeom>
          <a:solidFill>
            <a:srgbClr val="E8C173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7B055E9-04B6-FEC6-B260-B12A6EE0B18B}"/>
              </a:ext>
            </a:extLst>
          </p:cNvPr>
          <p:cNvSpPr/>
          <p:nvPr/>
        </p:nvSpPr>
        <p:spPr>
          <a:xfrm>
            <a:off x="822960" y="16602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EE2BEB9-B9B2-3E0D-B2C2-8B1178198BD3}"/>
              </a:ext>
            </a:extLst>
          </p:cNvPr>
          <p:cNvSpPr/>
          <p:nvPr/>
        </p:nvSpPr>
        <p:spPr>
          <a:xfrm>
            <a:off x="1508760" y="1614532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E8C17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6F484A2-3964-02C1-0626-A21806A5B871}"/>
              </a:ext>
            </a:extLst>
          </p:cNvPr>
          <p:cNvSpPr/>
          <p:nvPr/>
        </p:nvSpPr>
        <p:spPr>
          <a:xfrm>
            <a:off x="1783080" y="1614532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recognise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pronouns</a:t>
            </a:r>
            <a:r>
              <a:rPr lang="nl-NL" dirty="0"/>
              <a:t> </a:t>
            </a:r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.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27C2950-668A-C0A0-461E-D4687BEFB3B9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E723BDCF-D41A-F9A6-F29E-3D7ABBF4F922}"/>
              </a:ext>
            </a:extLst>
          </p:cNvPr>
          <p:cNvSpPr/>
          <p:nvPr/>
        </p:nvSpPr>
        <p:spPr>
          <a:xfrm>
            <a:off x="817554" y="3352278"/>
            <a:ext cx="502920" cy="502920"/>
          </a:xfrm>
          <a:prstGeom prst="ellipse">
            <a:avLst/>
          </a:prstGeom>
          <a:solidFill>
            <a:srgbClr val="E08F98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5469B66F-3C05-A353-7F66-F31F6B371E91}"/>
              </a:ext>
            </a:extLst>
          </p:cNvPr>
          <p:cNvSpPr/>
          <p:nvPr/>
        </p:nvSpPr>
        <p:spPr>
          <a:xfrm>
            <a:off x="817554" y="335227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FFC76AEF-66ED-011B-9354-0BC83A9751CA}"/>
              </a:ext>
            </a:extLst>
          </p:cNvPr>
          <p:cNvSpPr/>
          <p:nvPr/>
        </p:nvSpPr>
        <p:spPr>
          <a:xfrm>
            <a:off x="1503354" y="3306558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8AF19F1C-FFF8-5A9C-635E-3E20EA1CA7B6}"/>
              </a:ext>
            </a:extLst>
          </p:cNvPr>
          <p:cNvSpPr/>
          <p:nvPr/>
        </p:nvSpPr>
        <p:spPr>
          <a:xfrm>
            <a:off x="1777674" y="3306558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ask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answer</a:t>
            </a:r>
            <a:r>
              <a:rPr lang="nl-NL" dirty="0"/>
              <a:t> </a:t>
            </a:r>
            <a:r>
              <a:rPr lang="nl-NL" dirty="0" err="1"/>
              <a:t>questions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a </a:t>
            </a:r>
            <a:r>
              <a:rPr lang="nl-NL" dirty="0" err="1"/>
              <a:t>classmate's</a:t>
            </a:r>
            <a:r>
              <a:rPr lang="nl-NL" dirty="0"/>
              <a:t> artwork </a:t>
            </a:r>
            <a:r>
              <a:rPr lang="nl-NL" dirty="0" err="1"/>
              <a:t>during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gallery</a:t>
            </a:r>
            <a:r>
              <a:rPr lang="nl-NL" dirty="0"/>
              <a:t> walk.</a:t>
            </a:r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C8AC9C8A-BFDE-B404-B38D-3E2FEF83DEDF}"/>
              </a:ext>
            </a:extLst>
          </p:cNvPr>
          <p:cNvSpPr/>
          <p:nvPr/>
        </p:nvSpPr>
        <p:spPr>
          <a:xfrm>
            <a:off x="822960" y="4185428"/>
            <a:ext cx="502920" cy="502920"/>
          </a:xfrm>
          <a:prstGeom prst="ellipse">
            <a:avLst/>
          </a:prstGeom>
          <a:solidFill>
            <a:srgbClr val="E8C173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6B986CCC-854F-97C5-A6B3-ADF6BF0D59F0}"/>
              </a:ext>
            </a:extLst>
          </p:cNvPr>
          <p:cNvSpPr/>
          <p:nvPr/>
        </p:nvSpPr>
        <p:spPr>
          <a:xfrm>
            <a:off x="822960" y="41854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68407E7B-8B24-4CE0-9BBD-4B8E20065412}"/>
              </a:ext>
            </a:extLst>
          </p:cNvPr>
          <p:cNvSpPr/>
          <p:nvPr/>
        </p:nvSpPr>
        <p:spPr>
          <a:xfrm>
            <a:off x="1508760" y="4139708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E8C173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41EB5725-1BF4-3D5B-7B0D-76CA48D91A08}"/>
              </a:ext>
            </a:extLst>
          </p:cNvPr>
          <p:cNvSpPr/>
          <p:nvPr/>
        </p:nvSpPr>
        <p:spPr>
          <a:xfrm>
            <a:off x="1783080" y="4139708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appropriate</a:t>
            </a:r>
            <a:r>
              <a:rPr lang="nl-NL" dirty="0"/>
              <a:t> </a:t>
            </a:r>
            <a:r>
              <a:rPr lang="nl-NL" dirty="0" err="1"/>
              <a:t>interaction</a:t>
            </a:r>
            <a:r>
              <a:rPr lang="nl-NL" dirty="0"/>
              <a:t> </a:t>
            </a:r>
            <a:r>
              <a:rPr lang="nl-NL" dirty="0" err="1"/>
              <a:t>strategies</a:t>
            </a:r>
            <a:r>
              <a:rPr lang="nl-NL" dirty="0"/>
              <a:t>, </a:t>
            </a:r>
            <a:r>
              <a:rPr lang="nl-NL" dirty="0" err="1"/>
              <a:t>such</a:t>
            </a:r>
            <a:r>
              <a:rPr lang="nl-NL" dirty="0"/>
              <a:t> as </a:t>
            </a:r>
            <a:r>
              <a:rPr lang="nl-NL" dirty="0" err="1"/>
              <a:t>asking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clarification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responding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follow-up </a:t>
            </a:r>
            <a:r>
              <a:rPr lang="nl-NL" dirty="0" err="1"/>
              <a:t>questions</a:t>
            </a:r>
            <a:r>
              <a:rPr lang="nl-NL" dirty="0"/>
              <a:t>.</a:t>
            </a:r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EE5345DE-667F-86C4-92D0-E6CA73E46CB9}"/>
              </a:ext>
            </a:extLst>
          </p:cNvPr>
          <p:cNvSpPr/>
          <p:nvPr/>
        </p:nvSpPr>
        <p:spPr>
          <a:xfrm>
            <a:off x="822960" y="2484086"/>
            <a:ext cx="502920" cy="502920"/>
          </a:xfrm>
          <a:prstGeom prst="ellipse">
            <a:avLst/>
          </a:prstGeom>
          <a:solidFill>
            <a:srgbClr val="A3BC85"/>
          </a:solidFill>
          <a:ln w="254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FDD57ADA-36EE-2874-E3C3-5CAD20F32854}"/>
              </a:ext>
            </a:extLst>
          </p:cNvPr>
          <p:cNvSpPr/>
          <p:nvPr/>
        </p:nvSpPr>
        <p:spPr>
          <a:xfrm>
            <a:off x="822960" y="248408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80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F280C956-8319-9E9E-B0E1-02373E8E604B}"/>
              </a:ext>
            </a:extLst>
          </p:cNvPr>
          <p:cNvSpPr/>
          <p:nvPr/>
        </p:nvSpPr>
        <p:spPr>
          <a:xfrm>
            <a:off x="1508760" y="2438366"/>
            <a:ext cx="9875520" cy="621792"/>
          </a:xfrm>
          <a:prstGeom prst="roundRect">
            <a:avLst>
              <a:gd name="adj" fmla="val 17647"/>
            </a:avLst>
          </a:prstGeom>
          <a:solidFill>
            <a:srgbClr val="F7EFE4"/>
          </a:solidFill>
          <a:ln w="19050">
            <a:solidFill>
              <a:srgbClr val="A3BC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C8ACF11C-45DE-EC9F-4D2D-7CFBE1D7D95B}"/>
              </a:ext>
            </a:extLst>
          </p:cNvPr>
          <p:cNvSpPr/>
          <p:nvPr/>
        </p:nvSpPr>
        <p:spPr>
          <a:xfrm>
            <a:off x="1783080" y="2438366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l-NL" dirty="0" err="1"/>
              <a:t>Students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express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choices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in English.</a:t>
            </a:r>
          </a:p>
        </p:txBody>
      </p:sp>
    </p:spTree>
    <p:extLst>
      <p:ext uri="{BB962C8B-B14F-4D97-AF65-F5344CB8AC3E}">
        <p14:creationId xmlns:p14="http://schemas.microsoft.com/office/powerpoint/2010/main" val="1635142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 rot="-60000">
            <a:off x="685800" y="457200"/>
            <a:ext cx="6035040" cy="914400"/>
          </a:xfrm>
          <a:prstGeom prst="roundRect">
            <a:avLst>
              <a:gd name="adj" fmla="val 22000"/>
            </a:avLst>
          </a:prstGeom>
          <a:solidFill>
            <a:srgbClr val="A3BC85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 rot="-60000">
            <a:off x="640080" y="457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Gallery walk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5120640" cy="685800"/>
          </a:xfrm>
          <a:prstGeom prst="roundRect">
            <a:avLst>
              <a:gd name="adj" fmla="val 21333"/>
            </a:avLst>
          </a:prstGeom>
          <a:solidFill>
            <a:srgbClr val="8FC0CB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Museum curator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5120640" cy="3520440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8FC0CB"/>
            </a:solidFill>
            <a:prstDash val="solid"/>
          </a:ln>
        </p:spPr>
        <p:txBody>
          <a:bodyPr/>
          <a:lstStyle/>
          <a:p>
            <a:endParaRPr lang="nl-NL" dirty="0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120640" cy="685800"/>
          </a:xfrm>
          <a:prstGeom prst="roundRect">
            <a:avLst>
              <a:gd name="adj" fmla="val 21333"/>
            </a:avLst>
          </a:prstGeom>
          <a:solidFill>
            <a:srgbClr val="E08F98"/>
          </a:solidFill>
          <a:ln w="317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Artist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120640" cy="3520440"/>
          </a:xfrm>
          <a:prstGeom prst="roundRect">
            <a:avLst>
              <a:gd name="adj" fmla="val 4156"/>
            </a:avLst>
          </a:prstGeom>
          <a:solidFill>
            <a:srgbClr val="F7EFE4"/>
          </a:solidFill>
          <a:ln w="25400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collage is part of the museum </a:t>
            </a:r>
            <a:r>
              <a:rPr lang="en-GB" sz="1500" dirty="0" err="1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exhibition.Your</a:t>
            </a: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tasks: 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Stand next to your collage.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Explain your collage to the visitors.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Tell them: what your collage represents, why you chose these symbols, what message you want to communicate. 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Answer visitors' questions. 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DC510593-BB75-72D3-9835-8BDA859600C8}"/>
              </a:ext>
            </a:extLst>
          </p:cNvPr>
          <p:cNvSpPr/>
          <p:nvPr/>
        </p:nvSpPr>
        <p:spPr>
          <a:xfrm>
            <a:off x="1072635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Visit different artworks and learn about each artist's </a:t>
            </a:r>
            <a:r>
              <a:rPr lang="en-GB" sz="1500" dirty="0" err="1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ideas.Your</a:t>
            </a: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tasks: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Visit as many collages as you can.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Listen carefully.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Ask at least one question at each collage.</a:t>
            </a:r>
            <a:b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GB" sz="1500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Think about which collages best represent national identity.</a:t>
            </a:r>
            <a:endParaRPr lang="en-US" sz="1500" dirty="0"/>
          </a:p>
        </p:txBody>
      </p:sp>
      <p:pic>
        <p:nvPicPr>
          <p:cNvPr id="21" name="Onlinemedia 20" title="12 Minute Timer">
            <a:hlinkClick r:id="" action="ppaction://media"/>
            <a:extLst>
              <a:ext uri="{FF2B5EF4-FFF2-40B4-BE49-F238E27FC236}">
                <a16:creationId xmlns:a16="http://schemas.microsoft.com/office/drawing/2014/main" id="{68BF1672-6DB8-1451-FD35-428D9363461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9689069" y="382071"/>
            <a:ext cx="2164298" cy="12228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43127-332E-9E9E-3204-6BDC4AE4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EB5D7A-8539-9098-FF56-0774754D2183}"/>
              </a:ext>
            </a:extLst>
          </p:cNvPr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B7C33E-66C2-F39E-495E-A6715A596AD5}"/>
              </a:ext>
            </a:extLst>
          </p:cNvPr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9DBD12-C707-6B80-401F-CA19EF51F4C9}"/>
              </a:ext>
            </a:extLst>
          </p:cNvPr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4AD5B9C-5D22-793B-7C77-D3858B17E642}"/>
              </a:ext>
            </a:extLst>
          </p:cNvPr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F028EA-9061-6B68-3700-4BF21E899C9E}"/>
              </a:ext>
            </a:extLst>
          </p:cNvPr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C90CE9-F6EA-99BF-57F4-6311AAF7544D}"/>
              </a:ext>
            </a:extLst>
          </p:cNvPr>
          <p:cNvSpPr/>
          <p:nvPr/>
        </p:nvSpPr>
        <p:spPr>
          <a:xfrm rot="90000">
            <a:off x="4572000" y="457200"/>
            <a:ext cx="5120640" cy="914400"/>
          </a:xfrm>
          <a:prstGeom prst="roundRect">
            <a:avLst>
              <a:gd name="adj" fmla="val 220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508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6ABD22-4209-0E3F-06E2-4B0E8790C5A2}"/>
              </a:ext>
            </a:extLst>
          </p:cNvPr>
          <p:cNvSpPr/>
          <p:nvPr/>
        </p:nvSpPr>
        <p:spPr>
          <a:xfrm rot="90000">
            <a:off x="4526280" y="457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DF8F2"/>
                </a:solidFill>
                <a:latin typeface="Poppins" pitchFamily="34" charset="0"/>
                <a:cs typeface="Poppins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D7D45E0-C5E9-FCF3-17D4-73E455EB42CA}"/>
              </a:ext>
            </a:extLst>
          </p:cNvPr>
          <p:cNvSpPr/>
          <p:nvPr/>
        </p:nvSpPr>
        <p:spPr>
          <a:xfrm>
            <a:off x="777240" y="1737360"/>
            <a:ext cx="10607040" cy="4297680"/>
          </a:xfrm>
          <a:prstGeom prst="roundRect">
            <a:avLst>
              <a:gd name="adj" fmla="val 3830"/>
            </a:avLst>
          </a:prstGeom>
          <a:solidFill>
            <a:srgbClr val="F7EFE4"/>
          </a:solidFill>
          <a:ln w="25400">
            <a:solidFill>
              <a:srgbClr val="A3BC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F4209F-A062-8885-7311-20F9BB61E0FC}"/>
              </a:ext>
            </a:extLst>
          </p:cNvPr>
          <p:cNvSpPr/>
          <p:nvPr/>
        </p:nvSpPr>
        <p:spPr>
          <a:xfrm>
            <a:off x="1188720" y="2011680"/>
            <a:ext cx="9784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■"/>
            </a:pPr>
            <a:r>
              <a:rPr lang="en-US" sz="1900" dirty="0">
                <a:solidFill>
                  <a:srgbClr val="E08F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Fill in the exit ticket – You are a museum curator, choose 4 collages that spoke to you and use the relative pronouns needed to express your opinion.</a:t>
            </a:r>
            <a:endParaRPr lang="en-US" sz="1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8C38B2-A19C-04D5-4DAC-47E694278F16}"/>
              </a:ext>
            </a:extLst>
          </p:cNvPr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E5A6BAE-CEB7-18D2-D45E-F2BF5EE9EA15}"/>
              </a:ext>
            </a:extLst>
          </p:cNvPr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2993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365760" y="-365760"/>
            <a:ext cx="2377440" cy="914400"/>
          </a:xfrm>
          <a:prstGeom prst="rect">
            <a:avLst/>
          </a:prstGeom>
          <a:solidFill>
            <a:srgbClr val="A3BC85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 rot="180000">
            <a:off x="-274320" y="411480"/>
            <a:ext cx="1554480" cy="82296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 rot="-120000">
            <a:off x="1051560" y="-320040"/>
            <a:ext cx="1188720" cy="1371600"/>
          </a:xfrm>
          <a:prstGeom prst="rect">
            <a:avLst/>
          </a:prstGeom>
          <a:solidFill>
            <a:srgbClr val="8FC0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 rot="180000">
            <a:off x="10180015" y="6217920"/>
            <a:ext cx="2377440" cy="914400"/>
          </a:xfrm>
          <a:prstGeom prst="rect">
            <a:avLst/>
          </a:prstGeom>
          <a:solidFill>
            <a:srgbClr val="BB9BCB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 rot="-180000">
            <a:off x="10820095" y="5440680"/>
            <a:ext cx="1463040" cy="914400"/>
          </a:xfrm>
          <a:prstGeom prst="rect">
            <a:avLst/>
          </a:prstGeom>
          <a:solidFill>
            <a:srgbClr val="E08F98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 rot="240000">
            <a:off x="9722815" y="5440680"/>
            <a:ext cx="1097280" cy="1005840"/>
          </a:xfrm>
          <a:prstGeom prst="rect">
            <a:avLst/>
          </a:prstGeom>
          <a:solidFill>
            <a:srgbClr val="E8C173"/>
          </a:solidFill>
          <a:ln w="3810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109728" y="109728"/>
            <a:ext cx="11972239" cy="6638544"/>
          </a:xfrm>
          <a:prstGeom prst="rect">
            <a:avLst/>
          </a:prstGeom>
          <a:ln w="28575">
            <a:solidFill>
              <a:srgbClr val="BFD9D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ln w="9525">
            <a:solidFill>
              <a:srgbClr val="E08F9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 rot="72000">
            <a:off x="2377440" y="2468880"/>
            <a:ext cx="7406640" cy="1463040"/>
          </a:xfrm>
          <a:prstGeom prst="roundRect">
            <a:avLst>
              <a:gd name="adj" fmla="val 17500"/>
            </a:avLst>
          </a:prstGeom>
          <a:solidFill>
            <a:srgbClr val="BB9BCB"/>
          </a:solidFill>
          <a:ln w="44450">
            <a:solidFill>
              <a:srgbClr val="FDF8F2"/>
            </a:solidFill>
            <a:prstDash val="solid"/>
          </a:ln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 rot="72000">
            <a:off x="2377440" y="246888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DF8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4297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4A3B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are dismissed.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C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Comfort-Blanket Lesson Template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597335" y="6400800"/>
            <a:ext cx="256032" cy="256032"/>
          </a:xfrm>
          <a:prstGeom prst="ellipse">
            <a:avLst/>
          </a:prstGeom>
          <a:solidFill>
            <a:srgbClr val="E8C173"/>
          </a:solidFill>
          <a:ln w="19050">
            <a:solidFill>
              <a:srgbClr val="FDF8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2686</Words>
  <Application>Microsoft Office PowerPoint</Application>
  <PresentationFormat>Breedbeeld</PresentationFormat>
  <Paragraphs>212</Paragraphs>
  <Slides>21</Slides>
  <Notes>21</Notes>
  <HiddenSlides>0</HiddenSlides>
  <MMClips>2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4" baseType="lpstr">
      <vt:lpstr>Arial</vt:lpstr>
      <vt:lpstr>Poppins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Francesca Wens</cp:lastModifiedBy>
  <cp:revision>13</cp:revision>
  <dcterms:created xsi:type="dcterms:W3CDTF">2026-07-23T09:19:52Z</dcterms:created>
  <dcterms:modified xsi:type="dcterms:W3CDTF">2026-07-25T10:43:24Z</dcterms:modified>
</cp:coreProperties>
</file>